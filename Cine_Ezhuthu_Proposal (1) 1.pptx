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95" r:id="rId2"/>
    <p:sldId id="257" r:id="rId3"/>
    <p:sldId id="258" r:id="rId4"/>
    <p:sldId id="303" r:id="rId17"/>
    <p:sldId id="304" r:id="rId18"/>
    <p:sldId id="260" r:id="rId5"/>
    <p:sldId id="261" r:id="rId6"/>
    <p:sldId id="262" r:id="rId7"/>
    <p:sldId id="263" r:id="rId8"/>
    <p:sldId id="265" r:id="rId9"/>
    <p:sldId id="296" r:id="rId10"/>
    <p:sldId id="30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0B8A"/>
    <a:srgbClr val="2547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23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27627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80882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?>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11.xml.rels><?xml version="1.0" encoding="UTF-8"?>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2.xml.rels><?xml version="1.0" encoding="UTF-8"?>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406400" y="482600"/>
            <a:ext cx="2782094" cy="995353"/>
            <a:chOff x="0" y="0"/>
            <a:chExt cx="4815840" cy="15988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5840" cy="1598803"/>
            </a:xfrm>
            <a:custGeom>
              <a:avLst/>
              <a:gdLst/>
              <a:ahLst/>
              <a:cxnLst/>
              <a:rect l="l" t="t" r="r" b="b"/>
              <a:pathLst>
                <a:path w="4815840" h="1598803">
                  <a:moveTo>
                    <a:pt x="0" y="0"/>
                  </a:moveTo>
                  <a:lnTo>
                    <a:pt x="4815840" y="0"/>
                  </a:lnTo>
                  <a:lnTo>
                    <a:pt x="4815840" y="1598803"/>
                  </a:lnTo>
                  <a:lnTo>
                    <a:pt x="0" y="1598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2" b="-202"/>
              </a:stretch>
            </a:blipFill>
          </p:spPr>
          <p:txBody>
            <a:bodyPr/>
            <a:lstStyle/>
            <a:p>
              <a:endParaRPr lang="en-IN" sz="120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38600" y="2936558"/>
            <a:ext cx="76200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400" b="1" dirty="0">
                <a:solidFill>
                  <a:srgbClr val="254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 Ezhuthu</a:t>
            </a:r>
            <a:endParaRPr lang="en-US" sz="6400" dirty="0">
              <a:solidFill>
                <a:srgbClr val="25479B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152900" y="4038600"/>
            <a:ext cx="75057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i="1" dirty="0">
                <a:solidFill>
                  <a:srgbClr val="DF0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screenplay directors and writers</a:t>
            </a:r>
            <a:endParaRPr lang="en-US" sz="2400" dirty="0">
              <a:solidFill>
                <a:srgbClr val="DF0B8A"/>
              </a:solidFill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BBAB184-7E87-4453-B10E-BDE2C16DFCC1}"/>
              </a:ext>
            </a:extLst>
          </p:cNvPr>
          <p:cNvSpPr/>
          <p:nvPr/>
        </p:nvSpPr>
        <p:spPr>
          <a:xfrm>
            <a:off x="6705600" y="3937000"/>
            <a:ext cx="2184400" cy="0"/>
          </a:xfrm>
          <a:prstGeom prst="line">
            <a:avLst/>
          </a:prstGeom>
          <a:noFill/>
          <a:ln w="19050">
            <a:solidFill>
              <a:srgbClr val="C79A4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>
              <a:solidFill>
                <a:srgbClr val="DF0B8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4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writers draft by hand — then hit a wall</a:t>
            </a:r>
            <a:endParaRPr lang="en-US" sz="3100" dirty="0">
              <a:solidFill>
                <a:srgbClr val="25479B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F0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>
              <a:solidFill>
                <a:srgbClr val="DF0B8A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Many screenwriters in India's regional film industries still draft scripts with a pen, because it supports creative flow. The trouble starts the moment the draft is finished — there is no smooth way to turn that handwritten, regional-language work into a usable digital document.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468880"/>
            <a:ext cx="2606040" cy="82296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2852928"/>
            <a:ext cx="841248" cy="841248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63240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38862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Retyping is slow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96112" y="452628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handwritten draft means typing the whole thing again — tedious and time-consuming.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413455" y="246888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13455" y="2468880"/>
            <a:ext cx="2606040" cy="82296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14" name="Shape 11"/>
          <p:cNvSpPr/>
          <p:nvPr/>
        </p:nvSpPr>
        <p:spPr>
          <a:xfrm>
            <a:off x="3706063" y="2852928"/>
            <a:ext cx="841248" cy="841248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375" y="3063240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69487" y="38862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Typing Indian languages is hard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669487" y="452628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Keyboards for Malayalam, Tamil or Hindi are slow and unintuitive, so writers avoid digital tools.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186830" y="246888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86830" y="2468880"/>
            <a:ext cx="2606040" cy="82296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20" name="Shape 16"/>
          <p:cNvSpPr/>
          <p:nvPr/>
        </p:nvSpPr>
        <p:spPr>
          <a:xfrm>
            <a:off x="6479438" y="2852928"/>
            <a:ext cx="841248" cy="841248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750" y="3063240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2862" y="38862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Screenplay tools don't fit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42862" y="452628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Final Draft, Celtx and WriterDuet are English-first, often costly, and ignore Indian-language handwriting.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960206" y="246888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960206" y="2468880"/>
            <a:ext cx="2606040" cy="82296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26" name="Shape 21"/>
          <p:cNvSpPr/>
          <p:nvPr/>
        </p:nvSpPr>
        <p:spPr>
          <a:xfrm>
            <a:off x="9252814" y="2852928"/>
            <a:ext cx="841248" cy="841248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3126" y="3063240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16238" y="38862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iPad can't help either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216238" y="452628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Apple's built-in Scribble supports no Indian language, so the device offers writers no shortcut.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</a:t>
            </a:r>
            <a:endParaRPr lang="en-US" sz="1200" dirty="0">
              <a:solidFill>
                <a:srgbClr val="DF0B8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4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focused app. The writer just writes.</a:t>
            </a:r>
            <a:endParaRPr lang="en-US" sz="3100" dirty="0">
              <a:solidFill>
                <a:srgbClr val="25479B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F0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>
              <a:solidFill>
                <a:srgbClr val="DF0B8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572000" cy="4663440"/>
          </a:xfrm>
          <a:prstGeom prst="rect">
            <a:avLst/>
          </a:prstGeom>
          <a:solidFill>
            <a:srgbClr val="25479B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109728" cy="4663440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9659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697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language in,</a:t>
            </a:r>
            <a:endParaRPr lang="en-US" sz="2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language out.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51560" y="40690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keeps the writing in the writer's own language  it does not translate. Write in Malayalam, get a Malayalam document. That single design choice is what makes the product simple and reliable.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577840" y="15727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The experience for the writer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577840" y="2148840"/>
            <a:ext cx="420624" cy="420624"/>
          </a:xfrm>
          <a:prstGeom prst="ellipse">
            <a:avLst/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12" name="Text 9"/>
          <p:cNvSpPr/>
          <p:nvPr/>
        </p:nvSpPr>
        <p:spPr>
          <a:xfrm>
            <a:off x="55778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72200" y="2093976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Write by hand on the iPad, exactly like on paper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577840" y="2807208"/>
            <a:ext cx="420624" cy="420624"/>
          </a:xfrm>
          <a:prstGeom prst="ellipse">
            <a:avLst/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172200" y="2752344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Watch handwriting convert to digital text in the same language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577840" y="3465576"/>
            <a:ext cx="420624" cy="420624"/>
          </a:xfrm>
          <a:prstGeom prst="ellipse">
            <a:avLst/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18" name="Text 15"/>
          <p:cNvSpPr/>
          <p:nvPr/>
        </p:nvSpPr>
        <p:spPr>
          <a:xfrm>
            <a:off x="5577840" y="3465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172200" y="3410712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Edit, correct and rewrite freely once the text is digital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577840" y="4123944"/>
            <a:ext cx="420624" cy="420624"/>
          </a:xfrm>
          <a:prstGeom prst="ellipse">
            <a:avLst/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21" name="Text 18"/>
          <p:cNvSpPr/>
          <p:nvPr/>
        </p:nvSpPr>
        <p:spPr>
          <a:xfrm>
            <a:off x="5577840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172200" y="4069080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Organize the script scene by scene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577840" y="4782312"/>
            <a:ext cx="420624" cy="420624"/>
          </a:xfrm>
          <a:prstGeom prst="ellipse">
            <a:avLst/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24" name="Text 21"/>
          <p:cNvSpPr/>
          <p:nvPr/>
        </p:nvSpPr>
        <p:spPr>
          <a:xfrm>
            <a:off x="5577840" y="478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172200" y="4727448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the content as a proper screenplay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577840" y="5440680"/>
            <a:ext cx="420624" cy="420624"/>
          </a:xfrm>
          <a:prstGeom prst="ellipse">
            <a:avLst/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27" name="Text 24"/>
          <p:cNvSpPr/>
          <p:nvPr/>
        </p:nvSpPr>
        <p:spPr>
          <a:xfrm>
            <a:off x="5577840" y="5440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5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172200" y="5385816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 / Doc — cloud save and version history keep every draft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>
              <a:solidFill>
                <a:srgbClr val="DF0B8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4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Version 1 feature set</a:t>
            </a:r>
            <a:endParaRPr lang="en-US" sz="3100" dirty="0">
              <a:solidFill>
                <a:srgbClr val="25479B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F0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>
              <a:solidFill>
                <a:srgbClr val="DF0B8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51129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81328"/>
            <a:ext cx="3511296" cy="77724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77393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92024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9344" y="179222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Writing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09344" y="21579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</a:t>
            </a:r>
            <a:endParaRPr lang="en-US" sz="1000" dirty="0">
              <a:solidFill>
                <a:srgbClr val="DF0B8A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950976" y="2441448"/>
            <a:ext cx="2944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→ Text Conversion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Malayalam Text Recognition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Tamil Text Recognition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Manglish → Malayalam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Tanglish → Tamil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Rich Text Editor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 Save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38828" y="1481328"/>
            <a:ext cx="351129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8828" y="1481328"/>
            <a:ext cx="3511296" cy="77724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14" name="Shape 11"/>
          <p:cNvSpPr/>
          <p:nvPr/>
        </p:nvSpPr>
        <p:spPr>
          <a:xfrm>
            <a:off x="4594860" y="177393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164" y="192024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8092" y="179222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Screenplay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5308092" y="21579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1000" dirty="0">
              <a:solidFill>
                <a:srgbClr val="DF0B8A"/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4649724" y="2441448"/>
            <a:ext cx="2944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Scene Headings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Character Names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Dialogue Blocks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Parentheticals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Scene Navigator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Database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Title Page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Page Count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037576" y="1481328"/>
            <a:ext cx="351129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37576" y="1481328"/>
            <a:ext cx="3511296" cy="77724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21" name="Shape 17"/>
          <p:cNvSpPr/>
          <p:nvPr/>
        </p:nvSpPr>
        <p:spPr>
          <a:xfrm>
            <a:off x="8293608" y="177393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920240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06840" y="179222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9006840" y="21579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</a:t>
            </a:r>
            <a:endParaRPr lang="en-US" sz="1000" dirty="0">
              <a:solidFill>
                <a:srgbClr val="DF0B8A"/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8348472" y="2441448"/>
            <a:ext cx="2944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Find and Replace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Spell Check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Character Auto-Complete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Location Auto-Complete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0080" y="4041648"/>
            <a:ext cx="351129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0080" y="4041648"/>
            <a:ext cx="3511296" cy="77724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28" name="Shape 23"/>
          <p:cNvSpPr/>
          <p:nvPr/>
        </p:nvSpPr>
        <p:spPr>
          <a:xfrm>
            <a:off x="896112" y="433425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4480560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609344" y="435254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</a:t>
            </a:r>
            <a:endParaRPr lang="en-US" sz="1650" dirty="0"/>
          </a:p>
        </p:txBody>
      </p:sp>
      <p:sp>
        <p:nvSpPr>
          <p:cNvPr id="31" name="Text 25"/>
          <p:cNvSpPr/>
          <p:nvPr/>
        </p:nvSpPr>
        <p:spPr>
          <a:xfrm>
            <a:off x="1609344" y="471830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000" dirty="0">
              <a:solidFill>
                <a:srgbClr val="DF0B8A"/>
              </a:solidFill>
            </a:endParaRPr>
          </a:p>
        </p:txBody>
      </p:sp>
      <p:sp>
        <p:nvSpPr>
          <p:cNvPr id="32" name="Text 26"/>
          <p:cNvSpPr/>
          <p:nvPr/>
        </p:nvSpPr>
        <p:spPr>
          <a:xfrm>
            <a:off x="950976" y="5001768"/>
            <a:ext cx="2944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Voice Memo per Scene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Photo Attachment per Scene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Margin Notes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338828" y="4041648"/>
            <a:ext cx="351129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338828" y="4041648"/>
            <a:ext cx="3511296" cy="77724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35" name="Shape 29"/>
          <p:cNvSpPr/>
          <p:nvPr/>
        </p:nvSpPr>
        <p:spPr>
          <a:xfrm>
            <a:off x="4594860" y="433425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1164" y="4480560"/>
            <a:ext cx="310896" cy="31089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08092" y="435254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&amp; Share</a:t>
            </a:r>
            <a:endParaRPr lang="en-US" sz="1650" dirty="0"/>
          </a:p>
        </p:txBody>
      </p:sp>
      <p:sp>
        <p:nvSpPr>
          <p:cNvPr id="38" name="Text 31"/>
          <p:cNvSpPr/>
          <p:nvPr/>
        </p:nvSpPr>
        <p:spPr>
          <a:xfrm>
            <a:off x="5308092" y="471830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000" dirty="0">
              <a:solidFill>
                <a:srgbClr val="DF0B8A"/>
              </a:solidFill>
            </a:endParaRPr>
          </a:p>
        </p:txBody>
      </p:sp>
      <p:sp>
        <p:nvSpPr>
          <p:cNvPr id="39" name="Text 32"/>
          <p:cNvSpPr/>
          <p:nvPr/>
        </p:nvSpPr>
        <p:spPr>
          <a:xfrm>
            <a:off x="4649724" y="5001768"/>
            <a:ext cx="2944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 Export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WhatsApp Share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037576" y="4041648"/>
            <a:ext cx="351129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037576" y="4041648"/>
            <a:ext cx="3511296" cy="77724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42" name="Shape 35"/>
          <p:cNvSpPr/>
          <p:nvPr/>
        </p:nvSpPr>
        <p:spPr>
          <a:xfrm>
            <a:off x="8293608" y="433425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480560"/>
            <a:ext cx="310896" cy="31089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006840" y="435254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1650" dirty="0"/>
          </a:p>
        </p:txBody>
      </p:sp>
      <p:sp>
        <p:nvSpPr>
          <p:cNvPr id="45" name="Text 37"/>
          <p:cNvSpPr/>
          <p:nvPr/>
        </p:nvSpPr>
        <p:spPr>
          <a:xfrm>
            <a:off x="9006840" y="471830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1000" dirty="0">
              <a:solidFill>
                <a:srgbClr val="DF0B8A"/>
              </a:solidFill>
            </a:endParaRPr>
          </a:p>
        </p:txBody>
      </p:sp>
      <p:sp>
        <p:nvSpPr>
          <p:cNvPr id="46" name="Text 38"/>
          <p:cNvSpPr/>
          <p:nvPr/>
        </p:nvSpPr>
        <p:spPr>
          <a:xfrm>
            <a:off x="8348472" y="5001768"/>
            <a:ext cx="2944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Offline Storage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>
              <a:solidFill>
                <a:srgbClr val="DF0B8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4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Cine Ezhuthu compares</a:t>
            </a:r>
            <a:endParaRPr lang="en-US" sz="3100" dirty="0">
              <a:solidFill>
                <a:srgbClr val="25479B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F0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>
              <a:solidFill>
                <a:srgbClr val="DF0B8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657600" cy="566928"/>
          </a:xfrm>
          <a:prstGeom prst="rect">
            <a:avLst/>
          </a:prstGeom>
          <a:solidFill>
            <a:srgbClr val="25479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002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1450238" cy="566928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8" name="Text 6"/>
          <p:cNvSpPr/>
          <p:nvPr/>
        </p:nvSpPr>
        <p:spPr>
          <a:xfrm>
            <a:off x="4334256" y="1600200"/>
            <a:ext cx="1377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 Ezhuthu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747918" y="1600200"/>
            <a:ext cx="1450238" cy="566928"/>
          </a:xfrm>
          <a:prstGeom prst="rect">
            <a:avLst/>
          </a:prstGeom>
          <a:solidFill>
            <a:srgbClr val="25479B"/>
          </a:solidFill>
          <a:ln/>
        </p:spPr>
      </p:sp>
      <p:sp>
        <p:nvSpPr>
          <p:cNvPr id="10" name="Text 8"/>
          <p:cNvSpPr/>
          <p:nvPr/>
        </p:nvSpPr>
        <p:spPr>
          <a:xfrm>
            <a:off x="5784494" y="1600200"/>
            <a:ext cx="1377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Draft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98157" y="1600200"/>
            <a:ext cx="1450238" cy="566928"/>
          </a:xfrm>
          <a:prstGeom prst="rect">
            <a:avLst/>
          </a:prstGeom>
          <a:solidFill>
            <a:srgbClr val="25479B"/>
          </a:solidFill>
          <a:ln/>
        </p:spPr>
      </p:sp>
      <p:sp>
        <p:nvSpPr>
          <p:cNvPr id="12" name="Text 10"/>
          <p:cNvSpPr/>
          <p:nvPr/>
        </p:nvSpPr>
        <p:spPr>
          <a:xfrm>
            <a:off x="7234733" y="1600200"/>
            <a:ext cx="1377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Celtx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48395" y="1600200"/>
            <a:ext cx="1450238" cy="566928"/>
          </a:xfrm>
          <a:prstGeom prst="rect">
            <a:avLst/>
          </a:prstGeom>
          <a:solidFill>
            <a:srgbClr val="25479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4971" y="1600200"/>
            <a:ext cx="1377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WriterDuet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98634" y="1600200"/>
            <a:ext cx="1450238" cy="566928"/>
          </a:xfrm>
          <a:prstGeom prst="rect">
            <a:avLst/>
          </a:prstGeom>
          <a:solidFill>
            <a:srgbClr val="25479B"/>
          </a:solidFill>
          <a:ln/>
        </p:spPr>
      </p:sp>
      <p:sp>
        <p:nvSpPr>
          <p:cNvPr id="16" name="Text 14"/>
          <p:cNvSpPr/>
          <p:nvPr/>
        </p:nvSpPr>
        <p:spPr>
          <a:xfrm>
            <a:off x="10135210" y="1600200"/>
            <a:ext cx="1377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Scribble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167128"/>
            <a:ext cx="365760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167128"/>
            <a:ext cx="340156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regional-language support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7680" y="2167128"/>
            <a:ext cx="1450238" cy="489204"/>
          </a:xfrm>
          <a:prstGeom prst="rect">
            <a:avLst/>
          </a:prstGeom>
          <a:solidFill>
            <a:srgbClr val="F6ECD6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927" y="2292858"/>
            <a:ext cx="237744" cy="237744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747918" y="2167128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166" y="2292858"/>
            <a:ext cx="237744" cy="237744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198157" y="2167128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404" y="2292858"/>
            <a:ext cx="237744" cy="23774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648395" y="2167128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642" y="2292858"/>
            <a:ext cx="237744" cy="23774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0098634" y="2167128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881" y="2292858"/>
            <a:ext cx="237744" cy="237744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40080" y="2656332"/>
            <a:ext cx="3657600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04672" y="2656332"/>
            <a:ext cx="340156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/ stylus input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297680" y="2656332"/>
            <a:ext cx="1450238" cy="489204"/>
          </a:xfrm>
          <a:prstGeom prst="rect">
            <a:avLst/>
          </a:prstGeom>
          <a:solidFill>
            <a:srgbClr val="F6ECD6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927" y="2782062"/>
            <a:ext cx="237744" cy="237744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5747918" y="2656332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166" y="2782062"/>
            <a:ext cx="237744" cy="237744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198157" y="2656332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404" y="2782062"/>
            <a:ext cx="237744" cy="237744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8648395" y="2656332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642" y="2782062"/>
            <a:ext cx="237744" cy="237744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10098634" y="2656332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4881" y="2782062"/>
            <a:ext cx="237744" cy="237744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640080" y="3145536"/>
            <a:ext cx="365760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804672" y="3145536"/>
            <a:ext cx="340156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 in &amp; out (no translate)</a:t>
            </a:r>
            <a:endParaRPr lang="en-US" sz="1150" dirty="0"/>
          </a:p>
        </p:txBody>
      </p:sp>
      <p:sp>
        <p:nvSpPr>
          <p:cNvPr id="43" name="Shape 31"/>
          <p:cNvSpPr/>
          <p:nvPr/>
        </p:nvSpPr>
        <p:spPr>
          <a:xfrm>
            <a:off x="4297680" y="3145536"/>
            <a:ext cx="1450238" cy="489204"/>
          </a:xfrm>
          <a:prstGeom prst="rect">
            <a:avLst/>
          </a:prstGeom>
          <a:solidFill>
            <a:srgbClr val="F6ECD6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927" y="3271266"/>
            <a:ext cx="237744" cy="237744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5747918" y="3145536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46" name="Text 33"/>
          <p:cNvSpPr/>
          <p:nvPr/>
        </p:nvSpPr>
        <p:spPr>
          <a:xfrm>
            <a:off x="5747918" y="3145536"/>
            <a:ext cx="145023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3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47" name="Shape 34"/>
          <p:cNvSpPr/>
          <p:nvPr/>
        </p:nvSpPr>
        <p:spPr>
          <a:xfrm>
            <a:off x="7198157" y="3145536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7198157" y="3145536"/>
            <a:ext cx="145023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3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49" name="Shape 36"/>
          <p:cNvSpPr/>
          <p:nvPr/>
        </p:nvSpPr>
        <p:spPr>
          <a:xfrm>
            <a:off x="8648395" y="3145536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8648395" y="3145536"/>
            <a:ext cx="145023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3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51" name="Shape 38"/>
          <p:cNvSpPr/>
          <p:nvPr/>
        </p:nvSpPr>
        <p:spPr>
          <a:xfrm>
            <a:off x="10098634" y="3145536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4881" y="3271266"/>
            <a:ext cx="237744" cy="237744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640080" y="3634740"/>
            <a:ext cx="3657600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54" name="Text 40"/>
          <p:cNvSpPr/>
          <p:nvPr/>
        </p:nvSpPr>
        <p:spPr>
          <a:xfrm>
            <a:off x="804672" y="3634740"/>
            <a:ext cx="340156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Screenplay-aware formatting</a:t>
            </a:r>
            <a:endParaRPr lang="en-US" sz="1150" dirty="0"/>
          </a:p>
        </p:txBody>
      </p:sp>
      <p:sp>
        <p:nvSpPr>
          <p:cNvPr id="55" name="Shape 41"/>
          <p:cNvSpPr/>
          <p:nvPr/>
        </p:nvSpPr>
        <p:spPr>
          <a:xfrm>
            <a:off x="4297680" y="3634740"/>
            <a:ext cx="1450238" cy="489204"/>
          </a:xfrm>
          <a:prstGeom prst="rect">
            <a:avLst/>
          </a:prstGeom>
          <a:solidFill>
            <a:srgbClr val="F6ECD6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927" y="3760470"/>
            <a:ext cx="237744" cy="237744"/>
          </a:xfrm>
          <a:prstGeom prst="rect">
            <a:avLst/>
          </a:prstGeom>
        </p:spPr>
      </p:pic>
      <p:sp>
        <p:nvSpPr>
          <p:cNvPr id="57" name="Shape 42"/>
          <p:cNvSpPr/>
          <p:nvPr/>
        </p:nvSpPr>
        <p:spPr>
          <a:xfrm>
            <a:off x="5747918" y="3634740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166" y="3760470"/>
            <a:ext cx="237744" cy="237744"/>
          </a:xfrm>
          <a:prstGeom prst="rect">
            <a:avLst/>
          </a:prstGeom>
        </p:spPr>
      </p:pic>
      <p:sp>
        <p:nvSpPr>
          <p:cNvPr id="59" name="Shape 43"/>
          <p:cNvSpPr/>
          <p:nvPr/>
        </p:nvSpPr>
        <p:spPr>
          <a:xfrm>
            <a:off x="7198157" y="3634740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404" y="3760470"/>
            <a:ext cx="237744" cy="237744"/>
          </a:xfrm>
          <a:prstGeom prst="rect">
            <a:avLst/>
          </a:prstGeom>
        </p:spPr>
      </p:pic>
      <p:sp>
        <p:nvSpPr>
          <p:cNvPr id="61" name="Shape 44"/>
          <p:cNvSpPr/>
          <p:nvPr/>
        </p:nvSpPr>
        <p:spPr>
          <a:xfrm>
            <a:off x="8648395" y="3634740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4642" y="3760470"/>
            <a:ext cx="237744" cy="237744"/>
          </a:xfrm>
          <a:prstGeom prst="rect">
            <a:avLst/>
          </a:prstGeom>
        </p:spPr>
      </p:pic>
      <p:sp>
        <p:nvSpPr>
          <p:cNvPr id="63" name="Shape 45"/>
          <p:cNvSpPr/>
          <p:nvPr/>
        </p:nvSpPr>
        <p:spPr>
          <a:xfrm>
            <a:off x="10098634" y="3634740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881" y="3760470"/>
            <a:ext cx="237744" cy="237744"/>
          </a:xfrm>
          <a:prstGeom prst="rect">
            <a:avLst/>
          </a:prstGeom>
        </p:spPr>
      </p:pic>
      <p:sp>
        <p:nvSpPr>
          <p:cNvPr id="65" name="Shape 46"/>
          <p:cNvSpPr/>
          <p:nvPr/>
        </p:nvSpPr>
        <p:spPr>
          <a:xfrm>
            <a:off x="640080" y="4123944"/>
            <a:ext cx="365760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66" name="Text 47"/>
          <p:cNvSpPr/>
          <p:nvPr/>
        </p:nvSpPr>
        <p:spPr>
          <a:xfrm>
            <a:off x="804672" y="4123944"/>
            <a:ext cx="340156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Scene-wise organization</a:t>
            </a:r>
            <a:endParaRPr lang="en-US" sz="1150" dirty="0"/>
          </a:p>
        </p:txBody>
      </p:sp>
      <p:sp>
        <p:nvSpPr>
          <p:cNvPr id="67" name="Shape 48"/>
          <p:cNvSpPr/>
          <p:nvPr/>
        </p:nvSpPr>
        <p:spPr>
          <a:xfrm>
            <a:off x="4297680" y="4123944"/>
            <a:ext cx="1450238" cy="489204"/>
          </a:xfrm>
          <a:prstGeom prst="rect">
            <a:avLst/>
          </a:prstGeom>
          <a:solidFill>
            <a:srgbClr val="F6ECD6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927" y="4249674"/>
            <a:ext cx="237744" cy="237744"/>
          </a:xfrm>
          <a:prstGeom prst="rect">
            <a:avLst/>
          </a:prstGeom>
        </p:spPr>
      </p:pic>
      <p:sp>
        <p:nvSpPr>
          <p:cNvPr id="69" name="Shape 49"/>
          <p:cNvSpPr/>
          <p:nvPr/>
        </p:nvSpPr>
        <p:spPr>
          <a:xfrm>
            <a:off x="5747918" y="4123944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70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166" y="4249674"/>
            <a:ext cx="237744" cy="237744"/>
          </a:xfrm>
          <a:prstGeom prst="rect">
            <a:avLst/>
          </a:prstGeom>
        </p:spPr>
      </p:pic>
      <p:sp>
        <p:nvSpPr>
          <p:cNvPr id="71" name="Shape 50"/>
          <p:cNvSpPr/>
          <p:nvPr/>
        </p:nvSpPr>
        <p:spPr>
          <a:xfrm>
            <a:off x="7198157" y="4123944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72" name="Image 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404" y="4249674"/>
            <a:ext cx="237744" cy="237744"/>
          </a:xfrm>
          <a:prstGeom prst="rect">
            <a:avLst/>
          </a:prstGeom>
        </p:spPr>
      </p:pic>
      <p:sp>
        <p:nvSpPr>
          <p:cNvPr id="73" name="Shape 51"/>
          <p:cNvSpPr/>
          <p:nvPr/>
        </p:nvSpPr>
        <p:spPr>
          <a:xfrm>
            <a:off x="8648395" y="4123944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74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4642" y="4249674"/>
            <a:ext cx="237744" cy="237744"/>
          </a:xfrm>
          <a:prstGeom prst="rect">
            <a:avLst/>
          </a:prstGeom>
        </p:spPr>
      </p:pic>
      <p:sp>
        <p:nvSpPr>
          <p:cNvPr id="75" name="Shape 52"/>
          <p:cNvSpPr/>
          <p:nvPr/>
        </p:nvSpPr>
        <p:spPr>
          <a:xfrm>
            <a:off x="10098634" y="4123944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76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881" y="4249674"/>
            <a:ext cx="237744" cy="237744"/>
          </a:xfrm>
          <a:prstGeom prst="rect">
            <a:avLst/>
          </a:prstGeom>
        </p:spPr>
      </p:pic>
      <p:sp>
        <p:nvSpPr>
          <p:cNvPr id="77" name="Shape 53"/>
          <p:cNvSpPr/>
          <p:nvPr/>
        </p:nvSpPr>
        <p:spPr>
          <a:xfrm>
            <a:off x="640080" y="4613148"/>
            <a:ext cx="3657600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78" name="Text 54"/>
          <p:cNvSpPr/>
          <p:nvPr/>
        </p:nvSpPr>
        <p:spPr>
          <a:xfrm>
            <a:off x="804672" y="4613148"/>
            <a:ext cx="340156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on-device recognition</a:t>
            </a:r>
            <a:endParaRPr lang="en-US" sz="1150" dirty="0"/>
          </a:p>
        </p:txBody>
      </p:sp>
      <p:sp>
        <p:nvSpPr>
          <p:cNvPr id="79" name="Shape 55"/>
          <p:cNvSpPr/>
          <p:nvPr/>
        </p:nvSpPr>
        <p:spPr>
          <a:xfrm>
            <a:off x="4297680" y="4613148"/>
            <a:ext cx="1450238" cy="489204"/>
          </a:xfrm>
          <a:prstGeom prst="rect">
            <a:avLst/>
          </a:prstGeom>
          <a:solidFill>
            <a:srgbClr val="F6ECD6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80" name="Image 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927" y="4738878"/>
            <a:ext cx="237744" cy="237744"/>
          </a:xfrm>
          <a:prstGeom prst="rect">
            <a:avLst/>
          </a:prstGeom>
        </p:spPr>
      </p:pic>
      <p:sp>
        <p:nvSpPr>
          <p:cNvPr id="81" name="Shape 56"/>
          <p:cNvSpPr/>
          <p:nvPr/>
        </p:nvSpPr>
        <p:spPr>
          <a:xfrm>
            <a:off x="5747918" y="4613148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82" name="Image 2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166" y="4738878"/>
            <a:ext cx="237744" cy="237744"/>
          </a:xfrm>
          <a:prstGeom prst="rect">
            <a:avLst/>
          </a:prstGeom>
        </p:spPr>
      </p:pic>
      <p:sp>
        <p:nvSpPr>
          <p:cNvPr id="83" name="Shape 57"/>
          <p:cNvSpPr/>
          <p:nvPr/>
        </p:nvSpPr>
        <p:spPr>
          <a:xfrm>
            <a:off x="7198157" y="4613148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84" name="Image 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404" y="4738878"/>
            <a:ext cx="237744" cy="237744"/>
          </a:xfrm>
          <a:prstGeom prst="rect">
            <a:avLst/>
          </a:prstGeom>
        </p:spPr>
      </p:pic>
      <p:sp>
        <p:nvSpPr>
          <p:cNvPr id="85" name="Shape 58"/>
          <p:cNvSpPr/>
          <p:nvPr/>
        </p:nvSpPr>
        <p:spPr>
          <a:xfrm>
            <a:off x="8648395" y="4613148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86" name="Text 59"/>
          <p:cNvSpPr/>
          <p:nvPr/>
        </p:nvSpPr>
        <p:spPr>
          <a:xfrm>
            <a:off x="8648395" y="4613148"/>
            <a:ext cx="145023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87" name="Shape 60"/>
          <p:cNvSpPr/>
          <p:nvPr/>
        </p:nvSpPr>
        <p:spPr>
          <a:xfrm>
            <a:off x="10098634" y="4613148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88" name="Image 2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4881" y="4738878"/>
            <a:ext cx="237744" cy="237744"/>
          </a:xfrm>
          <a:prstGeom prst="rect">
            <a:avLst/>
          </a:prstGeom>
        </p:spPr>
      </p:pic>
      <p:sp>
        <p:nvSpPr>
          <p:cNvPr id="89" name="Shape 61"/>
          <p:cNvSpPr/>
          <p:nvPr/>
        </p:nvSpPr>
        <p:spPr>
          <a:xfrm>
            <a:off x="640080" y="5102352"/>
            <a:ext cx="365760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90" name="Text 62"/>
          <p:cNvSpPr/>
          <p:nvPr/>
        </p:nvSpPr>
        <p:spPr>
          <a:xfrm>
            <a:off x="804672" y="5102352"/>
            <a:ext cx="340156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save &amp; version history</a:t>
            </a:r>
            <a:endParaRPr lang="en-US" sz="1150" dirty="0"/>
          </a:p>
        </p:txBody>
      </p:sp>
      <p:sp>
        <p:nvSpPr>
          <p:cNvPr id="91" name="Shape 63"/>
          <p:cNvSpPr/>
          <p:nvPr/>
        </p:nvSpPr>
        <p:spPr>
          <a:xfrm>
            <a:off x="4297680" y="5102352"/>
            <a:ext cx="1450238" cy="489204"/>
          </a:xfrm>
          <a:prstGeom prst="rect">
            <a:avLst/>
          </a:prstGeom>
          <a:solidFill>
            <a:srgbClr val="F6ECD6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92" name="Image 2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927" y="5228082"/>
            <a:ext cx="237744" cy="237744"/>
          </a:xfrm>
          <a:prstGeom prst="rect">
            <a:avLst/>
          </a:prstGeom>
        </p:spPr>
      </p:pic>
      <p:sp>
        <p:nvSpPr>
          <p:cNvPr id="93" name="Shape 64"/>
          <p:cNvSpPr/>
          <p:nvPr/>
        </p:nvSpPr>
        <p:spPr>
          <a:xfrm>
            <a:off x="5747918" y="5102352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94" name="Text 65"/>
          <p:cNvSpPr/>
          <p:nvPr/>
        </p:nvSpPr>
        <p:spPr>
          <a:xfrm>
            <a:off x="5747918" y="5102352"/>
            <a:ext cx="145023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95" name="Shape 66"/>
          <p:cNvSpPr/>
          <p:nvPr/>
        </p:nvSpPr>
        <p:spPr>
          <a:xfrm>
            <a:off x="7198157" y="5102352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96" name="Image 2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404" y="5228082"/>
            <a:ext cx="237744" cy="237744"/>
          </a:xfrm>
          <a:prstGeom prst="rect">
            <a:avLst/>
          </a:prstGeom>
        </p:spPr>
      </p:pic>
      <p:sp>
        <p:nvSpPr>
          <p:cNvPr id="97" name="Shape 67"/>
          <p:cNvSpPr/>
          <p:nvPr/>
        </p:nvSpPr>
        <p:spPr>
          <a:xfrm>
            <a:off x="8648395" y="5102352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98" name="Image 2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4642" y="5228082"/>
            <a:ext cx="237744" cy="237744"/>
          </a:xfrm>
          <a:prstGeom prst="rect">
            <a:avLst/>
          </a:prstGeom>
        </p:spPr>
      </p:pic>
      <p:sp>
        <p:nvSpPr>
          <p:cNvPr id="99" name="Shape 68"/>
          <p:cNvSpPr/>
          <p:nvPr/>
        </p:nvSpPr>
        <p:spPr>
          <a:xfrm>
            <a:off x="10098634" y="5102352"/>
            <a:ext cx="1450238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100" name="Text 69"/>
          <p:cNvSpPr/>
          <p:nvPr/>
        </p:nvSpPr>
        <p:spPr>
          <a:xfrm>
            <a:off x="10098634" y="5102352"/>
            <a:ext cx="145023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101" name="Shape 70"/>
          <p:cNvSpPr/>
          <p:nvPr/>
        </p:nvSpPr>
        <p:spPr>
          <a:xfrm>
            <a:off x="640080" y="5591556"/>
            <a:ext cx="3657600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102" name="Text 71"/>
          <p:cNvSpPr/>
          <p:nvPr/>
        </p:nvSpPr>
        <p:spPr>
          <a:xfrm>
            <a:off x="804672" y="5591556"/>
            <a:ext cx="340156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for regional writers</a:t>
            </a:r>
            <a:endParaRPr lang="en-US" sz="1150" dirty="0"/>
          </a:p>
        </p:txBody>
      </p:sp>
      <p:sp>
        <p:nvSpPr>
          <p:cNvPr id="103" name="Shape 72"/>
          <p:cNvSpPr/>
          <p:nvPr/>
        </p:nvSpPr>
        <p:spPr>
          <a:xfrm>
            <a:off x="4297680" y="5591556"/>
            <a:ext cx="1450238" cy="489204"/>
          </a:xfrm>
          <a:prstGeom prst="rect">
            <a:avLst/>
          </a:prstGeom>
          <a:solidFill>
            <a:srgbClr val="F6ECD6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104" name="Image 2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927" y="5717286"/>
            <a:ext cx="237744" cy="237744"/>
          </a:xfrm>
          <a:prstGeom prst="rect">
            <a:avLst/>
          </a:prstGeom>
        </p:spPr>
      </p:pic>
      <p:sp>
        <p:nvSpPr>
          <p:cNvPr id="105" name="Shape 73"/>
          <p:cNvSpPr/>
          <p:nvPr/>
        </p:nvSpPr>
        <p:spPr>
          <a:xfrm>
            <a:off x="5747918" y="5591556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106" name="Image 3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166" y="5717286"/>
            <a:ext cx="237744" cy="237744"/>
          </a:xfrm>
          <a:prstGeom prst="rect">
            <a:avLst/>
          </a:prstGeom>
        </p:spPr>
      </p:pic>
      <p:sp>
        <p:nvSpPr>
          <p:cNvPr id="107" name="Shape 74"/>
          <p:cNvSpPr/>
          <p:nvPr/>
        </p:nvSpPr>
        <p:spPr>
          <a:xfrm>
            <a:off x="7198157" y="5591556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108" name="Text 75"/>
          <p:cNvSpPr/>
          <p:nvPr/>
        </p:nvSpPr>
        <p:spPr>
          <a:xfrm>
            <a:off x="7198157" y="5591556"/>
            <a:ext cx="145023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109" name="Shape 76"/>
          <p:cNvSpPr/>
          <p:nvPr/>
        </p:nvSpPr>
        <p:spPr>
          <a:xfrm>
            <a:off x="8648395" y="5591556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sp>
        <p:nvSpPr>
          <p:cNvPr id="110" name="Text 77"/>
          <p:cNvSpPr/>
          <p:nvPr/>
        </p:nvSpPr>
        <p:spPr>
          <a:xfrm>
            <a:off x="8648395" y="5591556"/>
            <a:ext cx="145023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111" name="Shape 78"/>
          <p:cNvSpPr/>
          <p:nvPr/>
        </p:nvSpPr>
        <p:spPr>
          <a:xfrm>
            <a:off x="10098634" y="5591556"/>
            <a:ext cx="1450238" cy="489204"/>
          </a:xfrm>
          <a:prstGeom prst="rect">
            <a:avLst/>
          </a:prstGeom>
          <a:solidFill>
            <a:srgbClr val="EFEADF"/>
          </a:solidFill>
          <a:ln w="6350">
            <a:solidFill>
              <a:srgbClr val="E2DCCE"/>
            </a:solidFill>
            <a:prstDash val="solid"/>
          </a:ln>
        </p:spPr>
      </p:sp>
      <p:pic>
        <p:nvPicPr>
          <p:cNvPr id="112" name="Image 3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4881" y="5717286"/>
            <a:ext cx="237744" cy="237744"/>
          </a:xfrm>
          <a:prstGeom prst="rect">
            <a:avLst/>
          </a:prstGeom>
        </p:spPr>
      </p:pic>
      <p:sp>
        <p:nvSpPr>
          <p:cNvPr id="113" name="Shape 79"/>
          <p:cNvSpPr/>
          <p:nvPr/>
        </p:nvSpPr>
        <p:spPr>
          <a:xfrm>
            <a:off x="4297680" y="1600200"/>
            <a:ext cx="1450238" cy="4480560"/>
          </a:xfrm>
          <a:prstGeom prst="rect">
            <a:avLst/>
          </a:prstGeom>
          <a:ln w="25400">
            <a:solidFill>
              <a:srgbClr val="DF0B8A"/>
            </a:solidFill>
            <a:prstDash val="solid"/>
          </a:ln>
        </p:spPr>
      </p:sp>
      <p:pic>
        <p:nvPicPr>
          <p:cNvPr id="114" name="Image 3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263640"/>
            <a:ext cx="182880" cy="182880"/>
          </a:xfrm>
          <a:prstGeom prst="rect">
            <a:avLst/>
          </a:prstGeom>
        </p:spPr>
      </p:pic>
      <p:sp>
        <p:nvSpPr>
          <p:cNvPr id="115" name="Text 80"/>
          <p:cNvSpPr/>
          <p:nvPr/>
        </p:nvSpPr>
        <p:spPr>
          <a:xfrm>
            <a:off x="914400" y="62453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50" dirty="0"/>
          </a:p>
        </p:txBody>
      </p:sp>
      <p:pic>
        <p:nvPicPr>
          <p:cNvPr id="116" name="Image 3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6263640"/>
            <a:ext cx="182880" cy="182880"/>
          </a:xfrm>
          <a:prstGeom prst="rect">
            <a:avLst/>
          </a:prstGeom>
        </p:spPr>
      </p:pic>
      <p:sp>
        <p:nvSpPr>
          <p:cNvPr id="117" name="Text 81"/>
          <p:cNvSpPr/>
          <p:nvPr/>
        </p:nvSpPr>
        <p:spPr>
          <a:xfrm>
            <a:off x="2377440" y="62453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050" dirty="0"/>
          </a:p>
        </p:txBody>
      </p:sp>
      <p:sp>
        <p:nvSpPr>
          <p:cNvPr id="118" name="Text 82"/>
          <p:cNvSpPr/>
          <p:nvPr/>
        </p:nvSpPr>
        <p:spPr>
          <a:xfrm>
            <a:off x="3931920" y="6245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N/A — limited or not applicable</a:t>
            </a:r>
            <a:endParaRPr lang="en-US" sz="1050" dirty="0"/>
          </a:p>
        </p:txBody>
      </p:sp>
      <p:sp>
        <p:nvSpPr>
          <p:cNvPr id="119" name="Text 83"/>
          <p:cNvSpPr/>
          <p:nvPr/>
        </p:nvSpPr>
        <p:spPr>
          <a:xfrm>
            <a:off x="7040880" y="6227064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7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tool combines Indian-language handwriting with screenplay output — that gap is the opportunity.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&amp; MARKET</a:t>
            </a:r>
            <a:endParaRPr lang="en-US" sz="1200" dirty="0">
              <a:solidFill>
                <a:srgbClr val="DF0B8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4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this is built for</a:t>
            </a:r>
            <a:endParaRPr lang="en-US" sz="3100" dirty="0">
              <a:solidFill>
                <a:srgbClr val="25479B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F0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>
              <a:solidFill>
                <a:srgbClr val="DF0B8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583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947672"/>
            <a:ext cx="566928" cy="566928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08483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562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Screenwriters &amp; scriptwriters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20370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Regional film industries — Malayalam, Tamil, Telugu and others — who draft scripts by hand.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825496"/>
            <a:ext cx="6583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3081528"/>
            <a:ext cx="566928" cy="566928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2186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900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Authors &amp; playwrights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91640" y="3337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Writers of novels, stories or stage plays in their native language.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959352"/>
            <a:ext cx="6583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4215384"/>
            <a:ext cx="566928" cy="566928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35254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1239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&amp; content creators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447141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People producing written work in regional languages.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5093208"/>
            <a:ext cx="6583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6112" y="5349240"/>
            <a:ext cx="566928" cy="566928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54864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5257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pen-first writer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691640" y="56052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finds typing Indian languages slow and prefers a stylus.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406640" y="1691640"/>
            <a:ext cx="4142232" cy="4535424"/>
          </a:xfrm>
          <a:prstGeom prst="rect">
            <a:avLst/>
          </a:prstGeom>
          <a:solidFill>
            <a:srgbClr val="25479B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06640" y="1691640"/>
            <a:ext cx="4142232" cy="109728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27" name="Text 21"/>
          <p:cNvSpPr/>
          <p:nvPr/>
        </p:nvSpPr>
        <p:spPr>
          <a:xfrm>
            <a:off x="77266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C6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timing is right</a:t>
            </a:r>
            <a:endParaRPr lang="en-US" sz="17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2624328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156448" y="2569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Large, active industries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7726680" y="299008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cinema in Kerala, Tamil Nadu and beyond produces new scripts continuously.</a:t>
            </a:r>
            <a:endParaRPr lang="en-US" sz="11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3794760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56448" y="37398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Genuinely underserved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726680" y="41605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product exists for Indian-language handwriting + screenwriting today.</a:t>
            </a:r>
            <a:endParaRPr lang="en-US" sz="11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496519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156448" y="4910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First-mover opportunity</a:t>
            </a:r>
            <a:endParaRPr lang="en-US" sz="1450" dirty="0"/>
          </a:p>
        </p:txBody>
      </p:sp>
      <p:sp>
        <p:nvSpPr>
          <p:cNvPr id="36" name="Text 27"/>
          <p:cNvSpPr/>
          <p:nvPr/>
        </p:nvSpPr>
        <p:spPr>
          <a:xfrm>
            <a:off x="7726680" y="533095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handwriting experience right and the category is open.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>
              <a:solidFill>
                <a:srgbClr val="DF0B8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4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concept is worth pursuing</a:t>
            </a:r>
            <a:endParaRPr lang="en-US" sz="3100" dirty="0">
              <a:solidFill>
                <a:srgbClr val="25479B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F0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300" dirty="0">
              <a:solidFill>
                <a:srgbClr val="DF0B8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35204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27632"/>
            <a:ext cx="91440" cy="1993392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9385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5420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Fits how writers really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0449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Keeps the natural pen-and-paper habit; no behaviour change is forced.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627632"/>
            <a:ext cx="35204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627632"/>
            <a:ext cx="91440" cy="1993392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93852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25420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Saves significant time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36008" y="30449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slow, manual retyping step entirely.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1627632"/>
            <a:ext cx="35204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0" y="1627632"/>
            <a:ext cx="91440" cy="1993392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193852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25420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Underserved market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0449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strong rival for Indian-language handwriting plus screenwriting.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3822192"/>
            <a:ext cx="35204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3822192"/>
            <a:ext cx="91440" cy="1993392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13308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" y="47365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core technical risk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2688" y="5239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is a ready-made engine that already supports the languages.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43400" y="3822192"/>
            <a:ext cx="35204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43400" y="3822192"/>
            <a:ext cx="91440" cy="1993392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4133088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36008" y="47365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&amp; reliable by design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636008" y="5239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 in and out avoids the most error-prone step: translation.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046720" y="3822192"/>
            <a:ext cx="35204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046720" y="3822192"/>
            <a:ext cx="91440" cy="1993392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4133088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9328" y="47365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Serves big film industries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339328" y="5239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Kerala, Tamil Nadu and others generate a steady stream of new scripts.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>
              <a:solidFill>
                <a:srgbClr val="DF0B8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4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1 stays deliberately narrow</a:t>
            </a:r>
            <a:endParaRPr lang="en-US" sz="3100" dirty="0">
              <a:solidFill>
                <a:srgbClr val="25479B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F0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>
              <a:solidFill>
                <a:srgbClr val="DF0B8A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the first version achievable, scope is limited. V1 proves the core idea with one or two languages; everything else is a later phase.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5349240" cy="640080"/>
          </a:xfrm>
          <a:prstGeom prst="rect">
            <a:avLst/>
          </a:prstGeom>
          <a:solidFill>
            <a:srgbClr val="25479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3591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E2C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— VERSION 1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5409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3584" y="2990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application</a:t>
            </a:r>
            <a:endParaRPr lang="en-US" sz="128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3814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43584" y="3374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Pencil support</a:t>
            </a:r>
            <a:endParaRPr lang="en-US" sz="128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2219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43584" y="3758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 support</a:t>
            </a:r>
            <a:endParaRPr lang="en-US" sz="128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0624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43584" y="4142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support</a:t>
            </a:r>
            <a:endParaRPr lang="en-US" sz="128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90288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43584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28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74336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43584" y="4910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</a:t>
            </a:r>
            <a:endParaRPr lang="en-US" sz="128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58384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43584" y="5294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photos</a:t>
            </a:r>
            <a:endParaRPr lang="en-US" sz="128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742432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43584" y="5678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6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storage</a:t>
            </a:r>
            <a:endParaRPr lang="en-US" sz="1280" dirty="0"/>
          </a:p>
        </p:txBody>
      </p:sp>
      <p:sp>
        <p:nvSpPr>
          <p:cNvPr id="26" name="Shape 15"/>
          <p:cNvSpPr/>
          <p:nvPr/>
        </p:nvSpPr>
        <p:spPr>
          <a:xfrm>
            <a:off x="6199632" y="219456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16"/>
          <p:cNvSpPr/>
          <p:nvPr/>
        </p:nvSpPr>
        <p:spPr>
          <a:xfrm>
            <a:off x="6199632" y="2194560"/>
            <a:ext cx="5349240" cy="640080"/>
          </a:xfrm>
          <a:prstGeom prst="rect">
            <a:avLst/>
          </a:prstGeom>
          <a:solidFill>
            <a:srgbClr val="3A3742"/>
          </a:solidFill>
          <a:ln/>
        </p:spPr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359152"/>
            <a:ext cx="310896" cy="31089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885432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D9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— LATER PHASES</a:t>
            </a:r>
            <a:endParaRPr lang="en-US" sz="14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054096"/>
            <a:ext cx="201168" cy="20116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803136" y="2990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</a:t>
            </a:r>
            <a:endParaRPr lang="en-US" sz="128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438144"/>
            <a:ext cx="201168" cy="20116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803136" y="3374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script generation</a:t>
            </a:r>
            <a:endParaRPr lang="en-US" sz="128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822192"/>
            <a:ext cx="201168" cy="201168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6803136" y="3758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scheduling</a:t>
            </a:r>
            <a:endParaRPr lang="en-US" sz="128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206240"/>
            <a:ext cx="201168" cy="201168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803136" y="4142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planning</a:t>
            </a:r>
            <a:endParaRPr lang="en-US" sz="128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590288"/>
            <a:ext cx="201168" cy="201168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6803136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management</a:t>
            </a:r>
            <a:endParaRPr lang="en-US" sz="1280" dirty="0"/>
          </a:p>
        </p:txBody>
      </p:sp>
      <p:sp>
        <p:nvSpPr>
          <p:cNvPr id="40" name="Shape 23"/>
          <p:cNvSpPr/>
          <p:nvPr/>
        </p:nvSpPr>
        <p:spPr>
          <a:xfrm>
            <a:off x="6455664" y="5138928"/>
            <a:ext cx="4837176" cy="0"/>
          </a:xfrm>
          <a:prstGeom prst="line">
            <a:avLst/>
          </a:prstGeom>
          <a:noFill/>
          <a:ln w="12700">
            <a:solidFill>
              <a:srgbClr val="E2DCCE"/>
            </a:solidFill>
            <a:prstDash val="solid"/>
          </a:ln>
        </p:spPr>
      </p:sp>
      <p:sp>
        <p:nvSpPr>
          <p:cNvPr id="41" name="Text 24"/>
          <p:cNvSpPr/>
          <p:nvPr/>
        </p:nvSpPr>
        <p:spPr>
          <a:xfrm>
            <a:off x="6473952" y="528523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Planned for future releases.  </a:t>
            </a:r>
            <a:r>
              <a:rPr lang="en-US" sz="1150" dirty="0">
                <a:solidFill>
                  <a:srgbClr val="76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 be layered on once the core writing experience is proven.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1">
            <a:extLst>
              <a:ext uri="{FF2B5EF4-FFF2-40B4-BE49-F238E27FC236}">
                <a16:creationId xmlns:a16="http://schemas.microsoft.com/office/drawing/2014/main" id="{805F5C76-F47E-4D95-BE15-51093E607CB7}"/>
              </a:ext>
            </a:extLst>
          </p:cNvPr>
          <p:cNvSpPr/>
          <p:nvPr/>
        </p:nvSpPr>
        <p:spPr>
          <a:xfrm>
            <a:off x="0" y="133677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F5AAC0F3-1BE1-4751-9DFF-2D1F585F68C3}"/>
              </a:ext>
            </a:extLst>
          </p:cNvPr>
          <p:cNvSpPr/>
          <p:nvPr/>
        </p:nvSpPr>
        <p:spPr>
          <a:xfrm>
            <a:off x="0" y="174825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54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 Ezhuthu</a:t>
            </a:r>
            <a:endParaRPr lang="en-US" sz="5200" dirty="0">
              <a:solidFill>
                <a:srgbClr val="25479B"/>
              </a:solidFill>
            </a:endParaRPr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02B12CD0-0A41-4336-861C-BD21E555ABC9}"/>
              </a:ext>
            </a:extLst>
          </p:cNvPr>
          <p:cNvSpPr/>
          <p:nvPr/>
        </p:nvSpPr>
        <p:spPr>
          <a:xfrm>
            <a:off x="1645920" y="284553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DF0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regional-language writers keep their pen — and walk away with a finished, formatted screenplay.</a:t>
            </a:r>
            <a:endParaRPr lang="en-US" sz="1900" dirty="0">
              <a:solidFill>
                <a:srgbClr val="DF0B8A"/>
              </a:solidFill>
            </a:endParaRPr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561A91A4-6334-45DA-8C56-CEF4F4519FA0}"/>
              </a:ext>
            </a:extLst>
          </p:cNvPr>
          <p:cNvSpPr/>
          <p:nvPr/>
        </p:nvSpPr>
        <p:spPr>
          <a:xfrm>
            <a:off x="792328" y="4079970"/>
            <a:ext cx="3291840" cy="14173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79A4B"/>
            </a:solidFill>
            <a:prstDash val="solid"/>
          </a:ln>
        </p:spPr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0C8937B5-1E06-42D3-9601-FC881EC10FD5}"/>
              </a:ext>
            </a:extLst>
          </p:cNvPr>
          <p:cNvSpPr/>
          <p:nvPr/>
        </p:nvSpPr>
        <p:spPr>
          <a:xfrm>
            <a:off x="1020928" y="426285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problem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E592AB4D-0993-44A8-90F7-828A9DF54260}"/>
              </a:ext>
            </a:extLst>
          </p:cNvPr>
          <p:cNvSpPr/>
          <p:nvPr/>
        </p:nvSpPr>
        <p:spPr>
          <a:xfrm>
            <a:off x="1020928" y="470176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large group of writers has no tool that matches how they work.</a:t>
            </a:r>
            <a:endParaRPr lang="en-US" sz="1200" dirty="0"/>
          </a:p>
        </p:txBody>
      </p:sp>
      <p:sp>
        <p:nvSpPr>
          <p:cNvPr id="49" name="Shape 7">
            <a:extLst>
              <a:ext uri="{FF2B5EF4-FFF2-40B4-BE49-F238E27FC236}">
                <a16:creationId xmlns:a16="http://schemas.microsoft.com/office/drawing/2014/main" id="{6D7ABDEF-7432-455E-B714-0D48C16BD85B}"/>
              </a:ext>
            </a:extLst>
          </p:cNvPr>
          <p:cNvSpPr/>
          <p:nvPr/>
        </p:nvSpPr>
        <p:spPr>
          <a:xfrm>
            <a:off x="4449928" y="4079970"/>
            <a:ext cx="3291840" cy="14173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79A4B"/>
            </a:solidFill>
            <a:prstDash val="solid"/>
          </a:ln>
        </p:spPr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E8697A44-D9A8-4E40-81A7-184AA6CF7E10}"/>
              </a:ext>
            </a:extLst>
          </p:cNvPr>
          <p:cNvSpPr/>
          <p:nvPr/>
        </p:nvSpPr>
        <p:spPr>
          <a:xfrm>
            <a:off x="4678528" y="426285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core risk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A126CA49-7E8B-4CE8-ACFF-508785536E0A}"/>
              </a:ext>
            </a:extLst>
          </p:cNvPr>
          <p:cNvSpPr/>
          <p:nvPr/>
        </p:nvSpPr>
        <p:spPr>
          <a:xfrm>
            <a:off x="4678528" y="470176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 — recognition — already exists and is proven.</a:t>
            </a:r>
            <a:endParaRPr lang="en-US" sz="1200" dirty="0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F2069627-F2F5-419D-B739-E84D9D1A0052}"/>
              </a:ext>
            </a:extLst>
          </p:cNvPr>
          <p:cNvSpPr/>
          <p:nvPr/>
        </p:nvSpPr>
        <p:spPr>
          <a:xfrm>
            <a:off x="8107528" y="4079970"/>
            <a:ext cx="3291840" cy="14173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79A4B"/>
            </a:solidFill>
            <a:prstDash val="solid"/>
          </a:ln>
        </p:spPr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F4FDB209-83E6-4A87-B725-D1B66F8D3FEA}"/>
              </a:ext>
            </a:extLst>
          </p:cNvPr>
          <p:cNvSpPr/>
          <p:nvPr/>
        </p:nvSpPr>
        <p:spPr>
          <a:xfrm>
            <a:off x="8336128" y="426285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category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C855FC30-5240-4E6E-94B2-920BFFD1B265}"/>
              </a:ext>
            </a:extLst>
          </p:cNvPr>
          <p:cNvSpPr/>
          <p:nvPr/>
        </p:nvSpPr>
        <p:spPr>
          <a:xfrm>
            <a:off x="8336128" y="470176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 first to combine Indian-language handwriting with screenwriting.</a:t>
            </a:r>
            <a:endParaRPr lang="en-US" sz="1200" dirty="0"/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11BEE44D-0BAC-435A-A5B0-10491B003D2D}"/>
              </a:ext>
            </a:extLst>
          </p:cNvPr>
          <p:cNvSpPr/>
          <p:nvPr/>
        </p:nvSpPr>
        <p:spPr>
          <a:xfrm>
            <a:off x="110642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F0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300" dirty="0">
              <a:solidFill>
                <a:srgbClr val="DF0B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678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BEAA5E-C0BC-479C-B08A-FB20CBE09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57" y="1"/>
            <a:ext cx="12198457" cy="6854371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7A26E736-DC58-4036-B196-69974C43067F}"/>
              </a:ext>
            </a:extLst>
          </p:cNvPr>
          <p:cNvSpPr txBox="1"/>
          <p:nvPr/>
        </p:nvSpPr>
        <p:spPr>
          <a:xfrm>
            <a:off x="762000" y="1162551"/>
            <a:ext cx="53340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151"/>
              </a:lnSpc>
            </a:pPr>
            <a:r>
              <a:rPr lang="en-US" sz="6400" dirty="0">
                <a:solidFill>
                  <a:srgbClr val="25479B"/>
                </a:solidFill>
                <a:latin typeface="Yeseva One"/>
                <a:ea typeface="Yeseva One"/>
                <a:cs typeface="Yeseva One"/>
                <a:sym typeface="Yeseva One"/>
              </a:rPr>
              <a:t>THANK YOU</a:t>
            </a:r>
            <a:endParaRPr lang="en-US" sz="4800" dirty="0">
              <a:solidFill>
                <a:srgbClr val="25479B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EA7E16F-7EC1-4DAC-81A5-B1EE81F07D9A}"/>
              </a:ext>
            </a:extLst>
          </p:cNvPr>
          <p:cNvGrpSpPr/>
          <p:nvPr/>
        </p:nvGrpSpPr>
        <p:grpSpPr>
          <a:xfrm>
            <a:off x="9144000" y="560467"/>
            <a:ext cx="2782094" cy="995353"/>
            <a:chOff x="0" y="0"/>
            <a:chExt cx="4815840" cy="1598803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309F523-AD14-4816-A486-14F4975102B2}"/>
                </a:ext>
              </a:extLst>
            </p:cNvPr>
            <p:cNvSpPr/>
            <p:nvPr/>
          </p:nvSpPr>
          <p:spPr>
            <a:xfrm>
              <a:off x="0" y="0"/>
              <a:ext cx="4815840" cy="1598803"/>
            </a:xfrm>
            <a:custGeom>
              <a:avLst/>
              <a:gdLst/>
              <a:ahLst/>
              <a:cxnLst/>
              <a:rect l="l" t="t" r="r" b="b"/>
              <a:pathLst>
                <a:path w="4815840" h="1598803">
                  <a:moveTo>
                    <a:pt x="0" y="0"/>
                  </a:moveTo>
                  <a:lnTo>
                    <a:pt x="4815840" y="0"/>
                  </a:lnTo>
                  <a:lnTo>
                    <a:pt x="4815840" y="1598803"/>
                  </a:lnTo>
                  <a:lnTo>
                    <a:pt x="0" y="1598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2" b="-202"/>
              </a:stretch>
            </a:blipFill>
          </p:spPr>
          <p:txBody>
            <a:bodyPr/>
            <a:lstStyle/>
            <a:p>
              <a:endParaRPr lang="en-IN" sz="1200" dirty="0"/>
            </a:p>
          </p:txBody>
        </p:sp>
      </p:grpSp>
      <p:sp>
        <p:nvSpPr>
          <p:cNvPr id="7" name="Freeform 3">
            <a:extLst>
              <a:ext uri="{FF2B5EF4-FFF2-40B4-BE49-F238E27FC236}">
                <a16:creationId xmlns:a16="http://schemas.microsoft.com/office/drawing/2014/main" id="{B3DCC81F-A725-4ECA-B805-B3F5940B2883}"/>
              </a:ext>
            </a:extLst>
          </p:cNvPr>
          <p:cNvSpPr/>
          <p:nvPr/>
        </p:nvSpPr>
        <p:spPr>
          <a:xfrm>
            <a:off x="1014619" y="2556669"/>
            <a:ext cx="464287" cy="364331"/>
          </a:xfrm>
          <a:custGeom>
            <a:avLst/>
            <a:gdLst/>
            <a:ahLst/>
            <a:cxnLst/>
            <a:rect l="l" t="t" r="r" b="b"/>
            <a:pathLst>
              <a:path w="382865" h="294458">
                <a:moveTo>
                  <a:pt x="0" y="0"/>
                </a:moveTo>
                <a:lnTo>
                  <a:pt x="382865" y="0"/>
                </a:lnTo>
                <a:lnTo>
                  <a:pt x="382865" y="294458"/>
                </a:lnTo>
                <a:lnTo>
                  <a:pt x="0" y="2944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59" r="-859"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CEA88B5-C671-4FE5-800A-B9E809B291B8}"/>
              </a:ext>
            </a:extLst>
          </p:cNvPr>
          <p:cNvSpPr/>
          <p:nvPr/>
        </p:nvSpPr>
        <p:spPr>
          <a:xfrm>
            <a:off x="1040682" y="4795985"/>
            <a:ext cx="355889" cy="473219"/>
          </a:xfrm>
          <a:custGeom>
            <a:avLst/>
            <a:gdLst/>
            <a:ahLst/>
            <a:cxnLst/>
            <a:rect l="l" t="t" r="r" b="b"/>
            <a:pathLst>
              <a:path w="322882" h="443062">
                <a:moveTo>
                  <a:pt x="0" y="0"/>
                </a:moveTo>
                <a:lnTo>
                  <a:pt x="322882" y="0"/>
                </a:lnTo>
                <a:lnTo>
                  <a:pt x="322882" y="443062"/>
                </a:lnTo>
                <a:lnTo>
                  <a:pt x="0" y="443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369" b="-369"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321E3820-035C-4F3A-9FC7-5B5A263C65E7}"/>
              </a:ext>
            </a:extLst>
          </p:cNvPr>
          <p:cNvSpPr txBox="1"/>
          <p:nvPr/>
        </p:nvSpPr>
        <p:spPr>
          <a:xfrm>
            <a:off x="1879600" y="2739742"/>
            <a:ext cx="347242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2A2E3A"/>
                </a:solidFill>
                <a:latin typeface="Yeseva One"/>
                <a:ea typeface="Yeseva One"/>
                <a:cs typeface="Yeseva One"/>
                <a:sym typeface="Yeseva One"/>
              </a:rPr>
              <a:t>info@keninfo.tech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64800EF8-0EFA-4FB0-B031-8D848CCE4B73}"/>
              </a:ext>
            </a:extLst>
          </p:cNvPr>
          <p:cNvSpPr txBox="1"/>
          <p:nvPr/>
        </p:nvSpPr>
        <p:spPr>
          <a:xfrm>
            <a:off x="1879600" y="2390392"/>
            <a:ext cx="347242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6"/>
              </a:lnSpc>
            </a:pPr>
            <a:r>
              <a:rPr lang="en-US" sz="2133" b="1" dirty="0">
                <a:solidFill>
                  <a:srgbClr val="2A2E3A"/>
                </a:solidFill>
                <a:latin typeface="Crimson Pro Semi Bold" panose="020B0604020202020204" charset="0"/>
                <a:ea typeface="Helios"/>
                <a:cs typeface="Crimson Pro Semi Bold" panose="020B0604020202020204" charset="0"/>
                <a:sym typeface="Helios"/>
              </a:rPr>
              <a:t>Email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23C2CF36-DA68-48CB-975D-7903602B93F7}"/>
              </a:ext>
            </a:extLst>
          </p:cNvPr>
          <p:cNvSpPr txBox="1"/>
          <p:nvPr/>
        </p:nvSpPr>
        <p:spPr>
          <a:xfrm>
            <a:off x="1828800" y="3849914"/>
            <a:ext cx="347242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2A2E3A"/>
                </a:solidFill>
                <a:latin typeface="Yeseva One"/>
                <a:ea typeface="Yeseva One"/>
                <a:cs typeface="Yeseva One"/>
                <a:sym typeface="Yeseva One"/>
              </a:rPr>
              <a:t>www.keninfo.tech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4636344B-FD85-4425-BFD3-CD41626B8BF8}"/>
              </a:ext>
            </a:extLst>
          </p:cNvPr>
          <p:cNvSpPr txBox="1"/>
          <p:nvPr/>
        </p:nvSpPr>
        <p:spPr>
          <a:xfrm>
            <a:off x="1828800" y="3516351"/>
            <a:ext cx="347242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6"/>
              </a:lnSpc>
            </a:pPr>
            <a:r>
              <a:rPr lang="en-US" sz="2133" b="1" dirty="0">
                <a:solidFill>
                  <a:srgbClr val="2A2E3A"/>
                </a:solidFill>
                <a:latin typeface="Crimson Pro Semi Bold" panose="020B0604020202020204" charset="0"/>
                <a:ea typeface="Helios"/>
                <a:cs typeface="Crimson Pro Semi Bold" panose="020B0604020202020204" charset="0"/>
                <a:sym typeface="Helios"/>
              </a:rPr>
              <a:t>Website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4C3857CE-A337-4E51-A2B9-2148CA486C4F}"/>
              </a:ext>
            </a:extLst>
          </p:cNvPr>
          <p:cNvSpPr txBox="1"/>
          <p:nvPr/>
        </p:nvSpPr>
        <p:spPr>
          <a:xfrm>
            <a:off x="1828800" y="5096470"/>
            <a:ext cx="3472429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2A2E3A"/>
                </a:solidFill>
                <a:latin typeface="Yeseva One"/>
                <a:ea typeface="Yeseva One"/>
                <a:cs typeface="Yeseva One"/>
                <a:sym typeface="Yeseva One"/>
              </a:rPr>
              <a:t>UK     : +44 777 2730 797</a:t>
            </a:r>
          </a:p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2A2E3A"/>
                </a:solidFill>
                <a:latin typeface="Yeseva One"/>
                <a:ea typeface="Yeseva One"/>
                <a:cs typeface="Yeseva One"/>
                <a:sym typeface="Yeseva One"/>
              </a:rPr>
              <a:t>India  : +91 888 4433 033</a:t>
            </a:r>
          </a:p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2A2E3A"/>
                </a:solidFill>
                <a:latin typeface="Yeseva One"/>
                <a:ea typeface="Yeseva One"/>
                <a:cs typeface="Yeseva One"/>
                <a:sym typeface="Yeseva One"/>
              </a:rPr>
              <a:t>Swiss : +41 797 774 012</a:t>
            </a: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90CD619A-C654-4462-8FEB-5B1C37477A91}"/>
              </a:ext>
            </a:extLst>
          </p:cNvPr>
          <p:cNvSpPr txBox="1"/>
          <p:nvPr/>
        </p:nvSpPr>
        <p:spPr>
          <a:xfrm>
            <a:off x="1828800" y="4652326"/>
            <a:ext cx="347242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6"/>
              </a:lnSpc>
            </a:pPr>
            <a:r>
              <a:rPr lang="en-US" sz="2133" b="1" dirty="0">
                <a:solidFill>
                  <a:srgbClr val="2A2E3A"/>
                </a:solidFill>
                <a:latin typeface="Crimson Pro Semi Bold" panose="020B0604020202020204" charset="0"/>
                <a:ea typeface="Helios"/>
                <a:cs typeface="Crimson Pro Semi Bold" panose="020B0604020202020204" charset="0"/>
                <a:sym typeface="Helios"/>
              </a:rPr>
              <a:t>Call / Message Us</a:t>
            </a:r>
          </a:p>
        </p:txBody>
      </p:sp>
      <p:pic>
        <p:nvPicPr>
          <p:cNvPr id="15" name="Graphic 14" descr="Internet">
            <a:extLst>
              <a:ext uri="{FF2B5EF4-FFF2-40B4-BE49-F238E27FC236}">
                <a16:creationId xmlns:a16="http://schemas.microsoft.com/office/drawing/2014/main" id="{29FDCE78-7158-4D04-8480-B4B9D39532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4062" y="3479800"/>
            <a:ext cx="725401" cy="725401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733DF79D-6962-4271-9D5D-3664C5509810}"/>
              </a:ext>
            </a:extLst>
          </p:cNvPr>
          <p:cNvSpPr/>
          <p:nvPr/>
        </p:nvSpPr>
        <p:spPr>
          <a:xfrm>
            <a:off x="1014619" y="5442421"/>
            <a:ext cx="464287" cy="473219"/>
          </a:xfrm>
          <a:custGeom>
            <a:avLst/>
            <a:gdLst/>
            <a:ahLst/>
            <a:cxnLst/>
            <a:rect l="l" t="t" r="r" b="b"/>
            <a:pathLst>
              <a:path w="1165849" h="1172243">
                <a:moveTo>
                  <a:pt x="0" y="0"/>
                </a:moveTo>
                <a:lnTo>
                  <a:pt x="1165849" y="0"/>
                </a:lnTo>
                <a:lnTo>
                  <a:pt x="1165849" y="1172243"/>
                </a:lnTo>
                <a:lnTo>
                  <a:pt x="0" y="1172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CCE163-A906-43CC-8AD1-1FDCCA480CE8}"/>
              </a:ext>
            </a:extLst>
          </p:cNvPr>
          <p:cNvCxnSpPr>
            <a:cxnSpLocks/>
          </p:cNvCxnSpPr>
          <p:nvPr/>
        </p:nvCxnSpPr>
        <p:spPr>
          <a:xfrm>
            <a:off x="762000" y="3276600"/>
            <a:ext cx="401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BA3940-C76A-4CE2-95E4-0D1DAD415D6C}"/>
              </a:ext>
            </a:extLst>
          </p:cNvPr>
          <p:cNvCxnSpPr>
            <a:cxnSpLocks/>
          </p:cNvCxnSpPr>
          <p:nvPr/>
        </p:nvCxnSpPr>
        <p:spPr>
          <a:xfrm>
            <a:off x="762000" y="4394200"/>
            <a:ext cx="401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5BF8BE-D158-4402-BDDD-3FC7300FC8BC}"/>
              </a:ext>
            </a:extLst>
          </p:cNvPr>
          <p:cNvCxnSpPr>
            <a:cxnSpLocks/>
          </p:cNvCxnSpPr>
          <p:nvPr/>
        </p:nvCxnSpPr>
        <p:spPr>
          <a:xfrm>
            <a:off x="762000" y="6172200"/>
            <a:ext cx="401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749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WRITING LADDER</a:t>
            </a:r>
            <a:endParaRPr lang="en-US" sz="1200" dirty="0">
              <a:solidFill>
                <a:srgbClr val="DF0B8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4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film gets written</a:t>
            </a:r>
            <a:endParaRPr lang="en-US" sz="3100" dirty="0">
              <a:solidFill>
                <a:srgbClr val="25479B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F0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>
              <a:solidFill>
                <a:srgbClr val="DF0B8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35204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27632"/>
            <a:ext cx="91440" cy="1993392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9385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5420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Idea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0449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seed. One or two lines, like a logline. Pinned across every other stage.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627632"/>
            <a:ext cx="35204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627632"/>
            <a:ext cx="91440" cy="1993392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93852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25420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Story (Kathai)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36008" y="30449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full tale in flowing prose, start to finish. A soft space, no formatting.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1627632"/>
            <a:ext cx="35204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0" y="1627632"/>
            <a:ext cx="91440" cy="1993392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193852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25420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Synopsis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0449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short version. The major beats only, about one page.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3822192"/>
            <a:ext cx="35204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3822192"/>
            <a:ext cx="91440" cy="1993392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13308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" y="47365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4: Treatment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2688" y="5239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story broken scene by scene. Still prose, but order now matters.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43400" y="3822192"/>
            <a:ext cx="35204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43400" y="3822192"/>
            <a:ext cx="91440" cy="1993392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4133088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36008" y="47365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5: Screenplay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636008" y="5239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script in strict format: headings, action, dialogue (Thiraikkadai + Vasanam).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046720" y="3822192"/>
            <a:ext cx="35204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046720" y="3822192"/>
            <a:ext cx="91440" cy="1993392"/>
          </a:xfrm>
          <a:prstGeom prst="rect">
            <a:avLst/>
          </a:prstGeom>
          <a:solidFill>
            <a:srgbClr val="DF0B8A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4133088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9328" y="47365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kinds of writing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339328" y="5239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Idea, Story, Synopsis are free prose. Treatment adds structure. Screenplay is strict format.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STAGE, ITS OWN TOOLS</a:t>
            </a:r>
            <a:endParaRPr lang="en-US" sz="1200" dirty="0">
              <a:solidFill>
                <a:srgbClr val="DF0B8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4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features for every stage</a:t>
            </a:r>
            <a:endParaRPr lang="en-US" sz="3100" dirty="0">
              <a:solidFill>
                <a:srgbClr val="25479B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064240" y="411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F0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>
              <a:solidFill>
                <a:srgbClr val="DF0B8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351129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81328"/>
            <a:ext cx="3511296" cy="77724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77393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92024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9344" y="179222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stage (shared)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09344" y="21579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000" dirty="0">
              <a:solidFill>
                <a:srgbClr val="DF0B8A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950976" y="2441448"/>
            <a:ext cx="2944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to text (Pencil / S-Pen)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loop (1-2 tap fixes)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Symbol short-keys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Mixed language in one page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cleanup pass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offline + auto-save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Local version history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38828" y="1481328"/>
            <a:ext cx="351129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8828" y="1481328"/>
            <a:ext cx="3511296" cy="77724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14" name="Shape 11"/>
          <p:cNvSpPr/>
          <p:nvPr/>
        </p:nvSpPr>
        <p:spPr>
          <a:xfrm>
            <a:off x="4594860" y="177393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164" y="192024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8092" y="179222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5: Screenplay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5308092" y="21579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format</a:t>
            </a:r>
            <a:endParaRPr lang="en-US" sz="1000" dirty="0">
              <a:solidFill>
                <a:srgbClr val="DF0B8A"/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4649724" y="2441448"/>
            <a:ext cx="2944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Scene headings (INT/EXT, regional)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Character names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Dialogue blocks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Parentheticals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Scene navigator + card board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database + auto-complete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Name consistency checker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Tamil / Hindi page count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037576" y="1481328"/>
            <a:ext cx="351129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37576" y="1481328"/>
            <a:ext cx="3511296" cy="77724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21" name="Shape 17"/>
          <p:cNvSpPr/>
          <p:nvPr/>
        </p:nvSpPr>
        <p:spPr>
          <a:xfrm>
            <a:off x="8293608" y="177393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920240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06840" y="179222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4: Treatment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9006840" y="21579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structure</a:t>
            </a:r>
            <a:endParaRPr lang="en-US" sz="1000" dirty="0">
              <a:solidFill>
                <a:srgbClr val="DF0B8A"/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8348472" y="2441448"/>
            <a:ext cx="2944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Scene blocks (slug + description)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Suggest scene breaks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Drag-to-reorder scene cards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Tag location, time, characters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Builds character + location database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40080" y="4041648"/>
            <a:ext cx="351129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0080" y="4041648"/>
            <a:ext cx="3511296" cy="77724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28" name="Shape 23"/>
          <p:cNvSpPr/>
          <p:nvPr/>
        </p:nvSpPr>
        <p:spPr>
          <a:xfrm>
            <a:off x="896112" y="433425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4480560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609344" y="435254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Idea</a:t>
            </a:r>
            <a:endParaRPr lang="en-US" sz="1650" dirty="0"/>
          </a:p>
        </p:txBody>
      </p:sp>
      <p:sp>
        <p:nvSpPr>
          <p:cNvPr id="31" name="Text 25"/>
          <p:cNvSpPr/>
          <p:nvPr/>
        </p:nvSpPr>
        <p:spPr>
          <a:xfrm>
            <a:off x="1609344" y="471830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</a:t>
            </a:r>
            <a:endParaRPr lang="en-US" sz="1000" dirty="0">
              <a:solidFill>
                <a:srgbClr val="DF0B8A"/>
              </a:solidFill>
            </a:endParaRPr>
          </a:p>
        </p:txBody>
      </p:sp>
      <p:sp>
        <p:nvSpPr>
          <p:cNvPr id="32" name="Text 26"/>
          <p:cNvSpPr/>
          <p:nvPr/>
        </p:nvSpPr>
        <p:spPr>
          <a:xfrm>
            <a:off x="950976" y="5001768"/>
            <a:ext cx="2944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line seed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Logline template + title / genre tag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Pinned across every stage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338828" y="4041648"/>
            <a:ext cx="351129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338828" y="4041648"/>
            <a:ext cx="3511296" cy="77724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35" name="Shape 29"/>
          <p:cNvSpPr/>
          <p:nvPr/>
        </p:nvSpPr>
        <p:spPr>
          <a:xfrm>
            <a:off x="4594860" y="433425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1164" y="4480560"/>
            <a:ext cx="310896" cy="31089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08092" y="435254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Story (Kathai)</a:t>
            </a:r>
            <a:endParaRPr lang="en-US" sz="1650" dirty="0"/>
          </a:p>
        </p:txBody>
      </p:sp>
      <p:sp>
        <p:nvSpPr>
          <p:cNvPr id="38" name="Text 31"/>
          <p:cNvSpPr/>
          <p:nvPr/>
        </p:nvSpPr>
        <p:spPr>
          <a:xfrm>
            <a:off x="5308092" y="471830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prose</a:t>
            </a:r>
            <a:endParaRPr lang="en-US" sz="1000" dirty="0">
              <a:solidFill>
                <a:srgbClr val="DF0B8A"/>
              </a:solidFill>
            </a:endParaRPr>
          </a:p>
        </p:txBody>
      </p:sp>
      <p:sp>
        <p:nvSpPr>
          <p:cNvPr id="39" name="Text 32"/>
          <p:cNvSpPr/>
          <p:nvPr/>
        </p:nvSpPr>
        <p:spPr>
          <a:xfrm>
            <a:off x="4649724" y="5001768"/>
            <a:ext cx="2944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Flowing prose page, no formatting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/ reading time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Mark key moments (scene hints)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037576" y="4041648"/>
            <a:ext cx="3511296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E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037576" y="4041648"/>
            <a:ext cx="3511296" cy="77724"/>
          </a:xfrm>
          <a:prstGeom prst="rect">
            <a:avLst/>
          </a:prstGeom>
          <a:solidFill>
            <a:srgbClr val="DF0B8A"/>
          </a:solidFill>
          <a:ln/>
        </p:spPr>
      </p:sp>
      <p:sp>
        <p:nvSpPr>
          <p:cNvPr id="42" name="Shape 35"/>
          <p:cNvSpPr/>
          <p:nvPr/>
        </p:nvSpPr>
        <p:spPr>
          <a:xfrm>
            <a:off x="8293608" y="4334256"/>
            <a:ext cx="603504" cy="603504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480560"/>
            <a:ext cx="310896" cy="31089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006840" y="435254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Synopsis</a:t>
            </a:r>
            <a:endParaRPr lang="en-US" sz="1650" dirty="0"/>
          </a:p>
        </p:txBody>
      </p:sp>
      <p:sp>
        <p:nvSpPr>
          <p:cNvPr id="45" name="Text 37"/>
          <p:cNvSpPr/>
          <p:nvPr/>
        </p:nvSpPr>
        <p:spPr>
          <a:xfrm>
            <a:off x="9006840" y="471830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F0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prose</a:t>
            </a:r>
            <a:endParaRPr lang="en-US" sz="1000" dirty="0">
              <a:solidFill>
                <a:srgbClr val="DF0B8A"/>
              </a:solidFill>
            </a:endParaRPr>
          </a:p>
        </p:txBody>
      </p:sp>
      <p:sp>
        <p:nvSpPr>
          <p:cNvPr id="46" name="Text 38"/>
          <p:cNvSpPr/>
          <p:nvPr/>
        </p:nvSpPr>
        <p:spPr>
          <a:xfrm>
            <a:off x="8348472" y="5001768"/>
            <a:ext cx="29443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Length target + live word count</a:t>
            </a:r>
            <a:endParaRPr lang="en-US" sz="1000" dirty="0"/>
          </a:p>
          <a:p>
            <a:pPr marL="152400" indent="-1524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Condense from Story assist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Beat markers + side-by-side view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897</Words>
  <Application>Microsoft Office PowerPoint</Application>
  <PresentationFormat>Widescreen</PresentationFormat>
  <Paragraphs>186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Crimson Pro Semi Bold</vt:lpstr>
      <vt:lpstr>Georgia</vt:lpstr>
      <vt:lpstr>Yeseva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 Ezhuthu — Business Proposal</dc:title>
  <dc:subject>PptxGenJS Presentation</dc:subject>
  <dc:creator>Cine Ezhuthu</dc:creator>
  <cp:lastModifiedBy>Srividhya G</cp:lastModifiedBy>
  <cp:revision>6</cp:revision>
  <dcterms:created xsi:type="dcterms:W3CDTF">2026-06-02T08:48:19Z</dcterms:created>
  <dcterms:modified xsi:type="dcterms:W3CDTF">2026-06-03T09:05:13Z</dcterms:modified>
</cp:coreProperties>
</file>